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3" d="100"/>
          <a:sy n="63" d="100"/>
        </p:scale>
        <p:origin x="-159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20/04/1432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714752" y="332656"/>
            <a:ext cx="7772400" cy="3024336"/>
          </a:xfrm>
        </p:spPr>
        <p:txBody>
          <a:bodyPr>
            <a:normAutofit/>
          </a:bodyPr>
          <a:lstStyle/>
          <a:p>
            <a:r>
              <a:rPr lang="ar-SY" dirty="0" smtClean="0">
                <a:solidFill>
                  <a:srgbClr val="FF0000"/>
                </a:solidFill>
              </a:rPr>
              <a:t>مقارنة بين محركي البحث</a:t>
            </a:r>
            <a:r>
              <a:rPr lang="ar-SY" dirty="0" smtClean="0"/>
              <a:t/>
            </a:r>
            <a:br>
              <a:rPr lang="ar-SY" dirty="0" smtClean="0"/>
            </a:br>
            <a:endParaRPr lang="ar-SY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Y" dirty="0"/>
          </a:p>
        </p:txBody>
      </p:sp>
      <p:pic>
        <p:nvPicPr>
          <p:cNvPr id="1026" name="Picture 2" descr="C:\Users\Alamal for pc\Desktop\Bing vs Goog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052" y="3356992"/>
            <a:ext cx="601980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6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SY" dirty="0" smtClean="0"/>
              <a:t>العناوين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ar-SY" dirty="0" smtClean="0"/>
          </a:p>
          <a:p>
            <a:r>
              <a:rPr lang="ar-SY" dirty="0" smtClean="0"/>
              <a:t>مقدمة عامة عن محركات البحث.</a:t>
            </a:r>
          </a:p>
          <a:p>
            <a:r>
              <a:rPr lang="ar-SY" dirty="0" smtClean="0"/>
              <a:t>محرك البحث 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Google</a:t>
            </a:r>
            <a:r>
              <a:rPr lang="ar-SY" dirty="0" smtClean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r>
              <a:rPr lang="ar-SY" sz="2400" dirty="0"/>
              <a:t>مقدمة عن محرك البحث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Google</a:t>
            </a:r>
            <a:endParaRPr lang="ar-SY" sz="2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ar-SY" sz="2400" dirty="0" smtClean="0">
                <a:cs typeface="+mj-cs"/>
              </a:rPr>
              <a:t>طريقة عمل محرك البحث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Google</a:t>
            </a:r>
          </a:p>
          <a:p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cs typeface="+mj-cs"/>
              </a:rPr>
              <a:t>Page Rank</a:t>
            </a:r>
            <a:endParaRPr lang="ar-SY" sz="2400" b="1" dirty="0">
              <a:solidFill>
                <a:schemeClr val="accent1">
                  <a:lumMod val="75000"/>
                </a:schemeClr>
              </a:solidFill>
              <a:cs typeface="+mj-cs"/>
            </a:endParaRPr>
          </a:p>
          <a:p>
            <a:r>
              <a:rPr lang="ar-SY" sz="2400" dirty="0" smtClean="0">
                <a:cs typeface="+mj-cs"/>
              </a:rPr>
              <a:t>مميزات ومساوئ </a:t>
            </a:r>
            <a:r>
              <a:rPr lang="ar-SY" sz="2400" dirty="0">
                <a:cs typeface="+mj-cs"/>
              </a:rPr>
              <a:t>محرك البحث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cs typeface="+mj-cs"/>
              </a:rPr>
              <a:t>Google</a:t>
            </a:r>
            <a:r>
              <a:rPr lang="en-US" sz="2400" dirty="0">
                <a:cs typeface="+mj-cs"/>
              </a:rPr>
              <a:t> </a:t>
            </a:r>
            <a:endParaRPr lang="en-US" sz="2400" dirty="0" smtClean="0">
              <a:cs typeface="+mj-cs"/>
            </a:endParaRPr>
          </a:p>
          <a:p>
            <a:pPr marL="0" indent="0">
              <a:buNone/>
            </a:pPr>
            <a:endParaRPr lang="en-US" sz="2400" dirty="0" smtClean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8579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1143000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SY" dirty="0" smtClean="0">
                <a:solidFill>
                  <a:schemeClr val="bg1"/>
                </a:solidFill>
              </a:rPr>
              <a:t>مقدمة عامة</a:t>
            </a:r>
            <a:endParaRPr lang="ar-SY" dirty="0">
              <a:solidFill>
                <a:schemeClr val="bg1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251520" y="1556792"/>
            <a:ext cx="8435280" cy="4525963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ar-SY" dirty="0" smtClean="0"/>
          </a:p>
          <a:p>
            <a:pPr marL="0" indent="0">
              <a:buNone/>
            </a:pPr>
            <a:r>
              <a:rPr lang="ar-SY" sz="3000" dirty="0" smtClean="0"/>
              <a:t>قامت محركات البحث بتسهيل عملية الوصول إلى المواقع والمعلومات بدون الحاجة لتذكر اسم الموقع .</a:t>
            </a:r>
          </a:p>
          <a:p>
            <a:pPr marL="0" indent="0">
              <a:buNone/>
            </a:pPr>
            <a:endParaRPr lang="ar-SY" sz="3000" dirty="0"/>
          </a:p>
          <a:p>
            <a:pPr marL="0" indent="0">
              <a:buNone/>
            </a:pPr>
            <a:r>
              <a:rPr lang="ar-SY" sz="3000" dirty="0" smtClean="0"/>
              <a:t>ومحرك البحث عبارة عن موقع انترنت بسيط مصمم للمساعدة في العثور على مستندات مخزنة على الشبكة العنكبوتية .</a:t>
            </a:r>
          </a:p>
          <a:p>
            <a:pPr marL="0" indent="0">
              <a:buNone/>
            </a:pPr>
            <a:endParaRPr lang="ar-SY" sz="3000" dirty="0"/>
          </a:p>
          <a:p>
            <a:pPr marL="0" indent="0">
              <a:buNone/>
            </a:pPr>
            <a:r>
              <a:rPr lang="ar-SY" sz="3000" dirty="0" smtClean="0"/>
              <a:t>ومن أشهر المحركات </a:t>
            </a:r>
            <a:r>
              <a:rPr lang="en-US" sz="3000" dirty="0" smtClean="0"/>
              <a:t>(Google , Yahoo , Bing , Alta Vista….)</a:t>
            </a:r>
            <a:endParaRPr lang="ar-SY" sz="3000" dirty="0"/>
          </a:p>
        </p:txBody>
      </p:sp>
    </p:spTree>
    <p:extLst>
      <p:ext uri="{BB962C8B-B14F-4D97-AF65-F5344CB8AC3E}">
        <p14:creationId xmlns:p14="http://schemas.microsoft.com/office/powerpoint/2010/main" val="280398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Google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ar-SY" dirty="0" smtClean="0"/>
              <a:t>مقدمة :</a:t>
            </a:r>
          </a:p>
          <a:p>
            <a:pPr marL="0" indent="0">
              <a:buNone/>
            </a:pPr>
            <a:endParaRPr lang="ar-SY" dirty="0" smtClean="0"/>
          </a:p>
          <a:p>
            <a:pPr marL="0" indent="0">
              <a:buNone/>
            </a:pPr>
            <a:r>
              <a:rPr lang="ar-SY" sz="2400" dirty="0" smtClean="0"/>
              <a:t>بدء محرك البحث </a:t>
            </a:r>
            <a:r>
              <a:rPr lang="en-US" sz="2400" dirty="0" smtClean="0"/>
              <a:t>Google</a:t>
            </a:r>
            <a:r>
              <a:rPr lang="ar-SY" sz="2400" dirty="0" smtClean="0"/>
              <a:t> عام  1998 حين </a:t>
            </a:r>
            <a:r>
              <a:rPr lang="ar-SY" sz="2400" dirty="0"/>
              <a:t>قام بتأسيسه اثنان من طلبة الدكتوراه في جامعة ستانفورد </a:t>
            </a:r>
            <a:endParaRPr lang="ar-SY" sz="2400" dirty="0" smtClean="0"/>
          </a:p>
          <a:p>
            <a:pPr marL="0" indent="0">
              <a:buNone/>
            </a:pPr>
            <a:endParaRPr lang="ar-SY" sz="2400" dirty="0"/>
          </a:p>
          <a:p>
            <a:pPr marL="0" indent="0">
              <a:buNone/>
            </a:pPr>
            <a:r>
              <a:rPr lang="ar-SY" sz="2400" dirty="0" smtClean="0"/>
              <a:t>و بعد </a:t>
            </a:r>
            <a:r>
              <a:rPr lang="ar-SY" sz="2400" dirty="0"/>
              <a:t>سنة من هذا التاريخ حصلت هذه الشركة على تمويل قدرة 25مليون دولار من إحدى الشركات التجارية </a:t>
            </a:r>
            <a:r>
              <a:rPr lang="ar-SY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511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Google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ar-SY" dirty="0" smtClean="0"/>
          </a:p>
          <a:p>
            <a:r>
              <a:rPr lang="ar-SY" dirty="0" smtClean="0"/>
              <a:t>طريقة عمل محرك البحث </a:t>
            </a:r>
            <a:r>
              <a:rPr lang="en-US" dirty="0" smtClean="0"/>
              <a:t>Google </a:t>
            </a:r>
            <a:r>
              <a:rPr lang="ar-SY" dirty="0" smtClean="0"/>
              <a:t> :</a:t>
            </a:r>
          </a:p>
          <a:p>
            <a:pPr marL="0" indent="0">
              <a:buNone/>
            </a:pPr>
            <a:r>
              <a:rPr lang="ar-SY" sz="2400" dirty="0" smtClean="0"/>
              <a:t>يعتمد محرك البحث </a:t>
            </a:r>
            <a:r>
              <a:rPr lang="en-US" sz="2400" dirty="0"/>
              <a:t>Google</a:t>
            </a:r>
            <a:r>
              <a:rPr lang="ar-SY" sz="2400" dirty="0" smtClean="0"/>
              <a:t> على طريقة  </a:t>
            </a:r>
            <a:r>
              <a:rPr lang="en-US" sz="2400" dirty="0" smtClean="0"/>
              <a:t>PageRank</a:t>
            </a:r>
          </a:p>
          <a:p>
            <a:pPr marL="0" indent="0">
              <a:buNone/>
            </a:pPr>
            <a:endParaRPr lang="ar-SY" sz="2400" dirty="0" smtClean="0"/>
          </a:p>
          <a:p>
            <a:r>
              <a:rPr lang="en-US" dirty="0" smtClean="0"/>
              <a:t>PageRank</a:t>
            </a:r>
            <a:endParaRPr lang="ar-SY" dirty="0" smtClean="0"/>
          </a:p>
          <a:p>
            <a:pPr marL="0" indent="0">
              <a:buNone/>
            </a:pPr>
            <a:r>
              <a:rPr lang="ar-SY" sz="2400" dirty="0" smtClean="0"/>
              <a:t>تعتمد هذه الطريقة باستعمال </a:t>
            </a:r>
            <a:r>
              <a:rPr lang="ar-SY" sz="2400" dirty="0"/>
              <a:t>الارتباطات كدليل إلى أهمية صفحة معينة</a:t>
            </a:r>
            <a:r>
              <a:rPr lang="ar-SY" sz="2400" dirty="0" smtClean="0"/>
              <a:t>.</a:t>
            </a:r>
          </a:p>
          <a:p>
            <a:pPr marL="0" indent="0">
              <a:buNone/>
            </a:pPr>
            <a:r>
              <a:rPr lang="ar-SY" sz="2400" dirty="0"/>
              <a:t>تحصل المواقع المهمة العالية الجودة على تصنيف </a:t>
            </a:r>
            <a:r>
              <a:rPr lang="en-US" sz="2400" dirty="0"/>
              <a:t>PageRank</a:t>
            </a:r>
            <a:r>
              <a:rPr lang="ar-SY" sz="2400" dirty="0"/>
              <a:t> أعلى، الأمر الذي يتذكره </a:t>
            </a:r>
            <a:r>
              <a:rPr lang="en-US" sz="2400" dirty="0"/>
              <a:t>Google</a:t>
            </a:r>
            <a:r>
              <a:rPr lang="ar-SY" sz="2400" dirty="0"/>
              <a:t> في كل مرة يُجري بحثا</a:t>
            </a:r>
            <a:endParaRPr lang="ar-SY" sz="2400" dirty="0"/>
          </a:p>
        </p:txBody>
      </p:sp>
    </p:spTree>
    <p:extLst>
      <p:ext uri="{BB962C8B-B14F-4D97-AF65-F5344CB8AC3E}">
        <p14:creationId xmlns:p14="http://schemas.microsoft.com/office/powerpoint/2010/main" val="94639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Google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ar-SY" dirty="0" smtClean="0"/>
              <a:t>مميزات محرك البحث </a:t>
            </a:r>
            <a:r>
              <a:rPr lang="en-US" dirty="0" smtClean="0"/>
              <a:t>Google</a:t>
            </a:r>
            <a:endParaRPr lang="ar-SY" dirty="0" smtClean="0"/>
          </a:p>
          <a:p>
            <a:pPr marL="0" indent="0">
              <a:buNone/>
            </a:pPr>
            <a:r>
              <a:rPr lang="ar-SY" sz="2400" dirty="0" smtClean="0"/>
              <a:t>يحتوي محرك البحث </a:t>
            </a:r>
            <a:r>
              <a:rPr lang="en-US" sz="2400" dirty="0" smtClean="0"/>
              <a:t>Google</a:t>
            </a:r>
            <a:r>
              <a:rPr lang="ar-SY" sz="2400" dirty="0" smtClean="0"/>
              <a:t> على العديد من الميزات وأهمها</a:t>
            </a:r>
          </a:p>
          <a:p>
            <a:pPr marL="0" indent="0">
              <a:buNone/>
            </a:pPr>
            <a:r>
              <a:rPr lang="ar-SA" sz="2400" dirty="0"/>
              <a:t>لا </a:t>
            </a:r>
            <a:r>
              <a:rPr lang="ar-SA" sz="2400" dirty="0" smtClean="0"/>
              <a:t>يعطيك </a:t>
            </a:r>
            <a:r>
              <a:rPr lang="en-US" sz="2400" dirty="0"/>
              <a:t>Google</a:t>
            </a:r>
            <a:r>
              <a:rPr lang="ar-SY" sz="2400" dirty="0"/>
              <a:t> ضمن نتائجه سوى الصفحات التي تتضمن الكلمات التي </a:t>
            </a:r>
            <a:r>
              <a:rPr lang="ar-SY" sz="2400" dirty="0" smtClean="0"/>
              <a:t>طبعتها.</a:t>
            </a:r>
          </a:p>
          <a:p>
            <a:pPr marL="0" indent="0">
              <a:buNone/>
            </a:pPr>
            <a:r>
              <a:rPr lang="ar-SY" sz="2400" dirty="0" smtClean="0"/>
              <a:t>وسنتطرق إلى باقي الميزات ضمن الشرح</a:t>
            </a:r>
          </a:p>
          <a:p>
            <a:pPr marL="0" indent="0">
              <a:buNone/>
            </a:pPr>
            <a:endParaRPr lang="ar-SY" sz="2400" dirty="0"/>
          </a:p>
          <a:p>
            <a:r>
              <a:rPr lang="ar-SY" dirty="0" smtClean="0"/>
              <a:t>مساوئ محرك البحث </a:t>
            </a:r>
            <a:r>
              <a:rPr lang="en-US" dirty="0" smtClean="0"/>
              <a:t>Google</a:t>
            </a:r>
            <a:endParaRPr lang="ar-SY" dirty="0" smtClean="0"/>
          </a:p>
          <a:p>
            <a:pPr marL="0" indent="0">
              <a:buNone/>
            </a:pPr>
            <a:r>
              <a:rPr lang="en-US" sz="2400" dirty="0" smtClean="0"/>
              <a:t>Google </a:t>
            </a:r>
            <a:r>
              <a:rPr lang="ar-SY" sz="2400" dirty="0" smtClean="0"/>
              <a:t> من المحركات القوية التي لا تحتوي على الكثير من المساوئ</a:t>
            </a:r>
          </a:p>
          <a:p>
            <a:pPr marL="0" indent="0">
              <a:buNone/>
            </a:pPr>
            <a:r>
              <a:rPr lang="ar-SA" sz="2400" dirty="0"/>
              <a:t>يعطي نتائج عشوائية </a:t>
            </a:r>
            <a:r>
              <a:rPr lang="ar-SA" sz="2400" dirty="0" smtClean="0"/>
              <a:t>في </a:t>
            </a:r>
            <a:r>
              <a:rPr lang="ar-SA" sz="2400" dirty="0"/>
              <a:t>بعض الحالات</a:t>
            </a:r>
            <a:endParaRPr lang="ar-SY" sz="2400" dirty="0"/>
          </a:p>
        </p:txBody>
      </p:sp>
    </p:spTree>
    <p:extLst>
      <p:ext uri="{BB962C8B-B14F-4D97-AF65-F5344CB8AC3E}">
        <p14:creationId xmlns:p14="http://schemas.microsoft.com/office/powerpoint/2010/main" val="4174829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SY" dirty="0" smtClean="0"/>
              <a:t>العناوين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ar-SY" dirty="0" smtClean="0"/>
          </a:p>
          <a:p>
            <a:endParaRPr lang="ar-SY" dirty="0" smtClean="0"/>
          </a:p>
          <a:p>
            <a:r>
              <a:rPr lang="ar-SY" dirty="0" smtClean="0"/>
              <a:t>محرك البحث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Bing</a:t>
            </a:r>
            <a:r>
              <a:rPr lang="ar-SY" dirty="0" smtClean="0"/>
              <a:t> </a:t>
            </a:r>
          </a:p>
          <a:p>
            <a:r>
              <a:rPr lang="ar-SY" sz="2400" dirty="0" smtClean="0"/>
              <a:t>مقدمة عن محرك البحث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Bing</a:t>
            </a:r>
          </a:p>
          <a:p>
            <a:r>
              <a:rPr lang="ar-SY" sz="2400" dirty="0" smtClean="0"/>
              <a:t>مميزات ومساوئ محرك البحث </a:t>
            </a:r>
            <a:r>
              <a:rPr lang="en-US" sz="2400" dirty="0" smtClean="0">
                <a:solidFill>
                  <a:schemeClr val="tx2">
                    <a:lumMod val="75000"/>
                  </a:schemeClr>
                </a:solidFill>
              </a:rPr>
              <a:t>Bing</a:t>
            </a:r>
          </a:p>
          <a:p>
            <a:r>
              <a:rPr lang="ar-SY" sz="2400" dirty="0"/>
              <a:t>مقارنة بين محركي البحث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Bing &amp; Google</a:t>
            </a:r>
          </a:p>
        </p:txBody>
      </p:sp>
    </p:spTree>
    <p:extLst>
      <p:ext uri="{BB962C8B-B14F-4D97-AF65-F5344CB8AC3E}">
        <p14:creationId xmlns:p14="http://schemas.microsoft.com/office/powerpoint/2010/main" val="410505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/>
              <a:t>Bing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ar-SY" dirty="0" smtClean="0"/>
          </a:p>
          <a:p>
            <a:r>
              <a:rPr lang="ar-SY" dirty="0" smtClean="0"/>
              <a:t>مقدمة عن محرك البحث </a:t>
            </a:r>
            <a:r>
              <a:rPr lang="en-US" dirty="0" smtClean="0"/>
              <a:t>Bing</a:t>
            </a:r>
            <a:r>
              <a:rPr lang="ar-SY" dirty="0" smtClean="0"/>
              <a:t> </a:t>
            </a:r>
          </a:p>
          <a:p>
            <a:pPr marL="0" indent="0">
              <a:buNone/>
            </a:pPr>
            <a:endParaRPr lang="ar-SY" dirty="0" smtClean="0"/>
          </a:p>
          <a:p>
            <a:pPr marL="0" indent="0">
              <a:buNone/>
            </a:pPr>
            <a:r>
              <a:rPr lang="ar-SY" sz="2400" dirty="0" smtClean="0"/>
              <a:t>إن محرك البحث </a:t>
            </a:r>
            <a:r>
              <a:rPr lang="en-US" sz="2400" dirty="0" smtClean="0"/>
              <a:t>Bing </a:t>
            </a:r>
            <a:r>
              <a:rPr lang="ar-SY" sz="2400" dirty="0" smtClean="0"/>
              <a:t> هو من شركة </a:t>
            </a:r>
            <a:r>
              <a:rPr lang="en-US" sz="2400" dirty="0" smtClean="0"/>
              <a:t>Microsoft</a:t>
            </a:r>
            <a:r>
              <a:rPr lang="ar-SY" sz="2400" dirty="0" smtClean="0"/>
              <a:t> وأتى بديلاً لمحرك البحث</a:t>
            </a:r>
          </a:p>
          <a:p>
            <a:pPr marL="0" indent="0">
              <a:buNone/>
            </a:pPr>
            <a:r>
              <a:rPr lang="ar-SY" sz="2400" dirty="0" smtClean="0"/>
              <a:t> </a:t>
            </a:r>
            <a:r>
              <a:rPr lang="en-US" sz="2400" dirty="0" smtClean="0"/>
              <a:t>Live Search </a:t>
            </a:r>
            <a:r>
              <a:rPr lang="ar-SY" sz="2400" dirty="0" smtClean="0"/>
              <a:t> و </a:t>
            </a:r>
            <a:r>
              <a:rPr lang="ar-SY" sz="2400" dirty="0"/>
              <a:t>قد قامت </a:t>
            </a:r>
            <a:r>
              <a:rPr lang="ar-SY" sz="2400" dirty="0" smtClean="0"/>
              <a:t>شركة </a:t>
            </a:r>
            <a:r>
              <a:rPr lang="en-US" sz="2400" dirty="0" smtClean="0"/>
              <a:t> Microsoft </a:t>
            </a:r>
            <a:r>
              <a:rPr lang="ar-SY" sz="2400" dirty="0" smtClean="0"/>
              <a:t>بحملة تسويقية كبيرة لدعم هذا المحرك كي يأخذ موقعه بين المحركات العالمية المشهورة .</a:t>
            </a:r>
            <a:endParaRPr lang="en-US" sz="2400" dirty="0" smtClean="0"/>
          </a:p>
          <a:p>
            <a:pPr marL="0" indent="0">
              <a:buNone/>
            </a:pPr>
            <a:endParaRPr lang="ar-SY" sz="2400" dirty="0"/>
          </a:p>
        </p:txBody>
      </p:sp>
    </p:spTree>
    <p:extLst>
      <p:ext uri="{BB962C8B-B14F-4D97-AF65-F5344CB8AC3E}">
        <p14:creationId xmlns:p14="http://schemas.microsoft.com/office/powerpoint/2010/main" val="4259691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 smtClean="0"/>
              <a:t>Bing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SA" dirty="0" smtClean="0"/>
              <a:t>ميزات</a:t>
            </a:r>
            <a:r>
              <a:rPr lang="ar-SY" dirty="0" smtClean="0"/>
              <a:t> </a:t>
            </a:r>
            <a:r>
              <a:rPr lang="ar-SA" dirty="0" smtClean="0"/>
              <a:t>محرك </a:t>
            </a:r>
            <a:r>
              <a:rPr lang="ar-SA" dirty="0"/>
              <a:t>البحث </a:t>
            </a:r>
            <a:r>
              <a:rPr lang="en-US" dirty="0" smtClean="0"/>
              <a:t>Bing</a:t>
            </a:r>
            <a:r>
              <a:rPr lang="ar-SY" dirty="0" smtClean="0"/>
              <a:t> </a:t>
            </a:r>
          </a:p>
          <a:p>
            <a:pPr marL="0" indent="0">
              <a:buNone/>
            </a:pPr>
            <a:r>
              <a:rPr lang="ar-SY" sz="2400" dirty="0" smtClean="0"/>
              <a:t>من أهم مميزات محرك البحث </a:t>
            </a:r>
            <a:r>
              <a:rPr lang="en-US" sz="2400" dirty="0" smtClean="0"/>
              <a:t>Bing</a:t>
            </a:r>
            <a:endParaRPr lang="en-US" sz="2400" dirty="0"/>
          </a:p>
          <a:p>
            <a:pPr marL="0" indent="0">
              <a:buNone/>
            </a:pPr>
            <a:r>
              <a:rPr lang="ar-SA" sz="2400" dirty="0"/>
              <a:t>تبسيط الأدوات وتقديم العديد من الأدوات المساعدة في </a:t>
            </a:r>
            <a:r>
              <a:rPr lang="ar-SA" sz="2400" dirty="0" smtClean="0"/>
              <a:t>البحث.</a:t>
            </a:r>
            <a:endParaRPr lang="ar-SY" sz="2400" dirty="0" smtClean="0"/>
          </a:p>
          <a:p>
            <a:pPr marL="0" indent="0">
              <a:buNone/>
            </a:pPr>
            <a:r>
              <a:rPr lang="ar-SA" sz="2400" dirty="0" smtClean="0"/>
              <a:t> إمكانية الاطلاع على معلومات عن الصفحة ومكوناتها قبل زيارتها من خلال التأشير على النقطة البرتقالية الموجودة بجانب كل نتيجة.</a:t>
            </a:r>
            <a:endParaRPr lang="en-US" sz="2400" dirty="0" smtClean="0"/>
          </a:p>
          <a:p>
            <a:r>
              <a:rPr lang="ar-SY" dirty="0" smtClean="0"/>
              <a:t>مساوئ محرك البحث </a:t>
            </a:r>
            <a:r>
              <a:rPr lang="en-US" dirty="0" smtClean="0"/>
              <a:t>Bing</a:t>
            </a:r>
            <a:r>
              <a:rPr lang="ar-SY" dirty="0" smtClean="0"/>
              <a:t> </a:t>
            </a:r>
          </a:p>
          <a:p>
            <a:pPr marL="0" indent="0">
              <a:buNone/>
            </a:pPr>
            <a:r>
              <a:rPr lang="ar-SA" sz="2400" dirty="0"/>
              <a:t>يقوم المحرك بدعم اللغة العربية بطريقة ضعيفة وليس دعم كامل .</a:t>
            </a:r>
            <a:br>
              <a:rPr lang="ar-SA" sz="2400" dirty="0"/>
            </a:br>
            <a:r>
              <a:rPr lang="ar-SA" sz="2400" dirty="0" smtClean="0"/>
              <a:t>ﻻ </a:t>
            </a:r>
            <a:r>
              <a:rPr lang="ar-SA" sz="2400" dirty="0"/>
              <a:t>يوفر تصحيحا تلقائيا للأخطاء الإملائية وبالتالي عدم إظهار أي نتائج في هذه الحالة.</a:t>
            </a:r>
            <a:endParaRPr lang="en-US" sz="2400" dirty="0"/>
          </a:p>
          <a:p>
            <a:pPr marL="0" indent="0">
              <a:buNone/>
            </a:pPr>
            <a:r>
              <a:rPr lang="ar-SY" sz="2400" dirty="0" smtClean="0"/>
              <a:t> </a:t>
            </a:r>
            <a:r>
              <a:rPr lang="ar-SY" sz="2400" dirty="0"/>
              <a:t>لا يحوي ميزة الإكمال التلقائي</a:t>
            </a:r>
            <a:endParaRPr lang="ar-SY" sz="2400" dirty="0"/>
          </a:p>
        </p:txBody>
      </p:sp>
    </p:spTree>
    <p:extLst>
      <p:ext uri="{BB962C8B-B14F-4D97-AF65-F5344CB8AC3E}">
        <p14:creationId xmlns:p14="http://schemas.microsoft.com/office/powerpoint/2010/main" val="52911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SY" dirty="0"/>
              <a:t>مقارنة بين محركي البحث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Bing &amp;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Google</a:t>
            </a:r>
            <a:endParaRPr lang="ar-SY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66900" y="31003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ar-SY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عنصر نائب للمحتوى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5975794"/>
              </p:ext>
            </p:extLst>
          </p:nvPr>
        </p:nvGraphicFramePr>
        <p:xfrm>
          <a:off x="611560" y="1576388"/>
          <a:ext cx="8075766" cy="4837948"/>
        </p:xfrm>
        <a:graphic>
          <a:graphicData uri="http://schemas.openxmlformats.org/drawingml/2006/table">
            <a:tbl>
              <a:tblPr rtl="1" firstRow="1" firstCol="1" lastRow="1" lastCol="1" bandRow="1" bandCol="1">
                <a:tableStyleId>{5C22544A-7EE6-4342-B048-85BDC9FD1C3A}</a:tableStyleId>
              </a:tblPr>
              <a:tblGrid>
                <a:gridCol w="3879628"/>
                <a:gridCol w="1876322"/>
                <a:gridCol w="2319816"/>
              </a:tblGrid>
              <a:tr h="768790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Google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</a:rPr>
                        <a:t>Bing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عدد النتائج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كثيرة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بحسب التصنيف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اللغة العربية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يدعمها بشكل قوي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يدعمها بشكل ضعيف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تصحيح الأخطاء الإملائية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تلقائي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لا يوجد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الإكمال التلقائي 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يوجد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لا يوجد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أمكانية الاطلاع على محتوى الصفحة قبل زيارتها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غير ممكن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ممكن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واجهة الدخول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ثابتة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متغيرة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  <a:tr h="576593"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البحث عن الصور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>
                          <a:solidFill>
                            <a:schemeClr val="bg1"/>
                          </a:solidFill>
                          <a:effectLst/>
                        </a:rPr>
                        <a:t>عادي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500"/>
                        </a:spcBef>
                        <a:spcAft>
                          <a:spcPts val="500"/>
                        </a:spcAft>
                        <a:tabLst>
                          <a:tab pos="457200" algn="l"/>
                        </a:tabLst>
                      </a:pPr>
                      <a:r>
                        <a:rPr lang="ar-SA" sz="2000" dirty="0">
                          <a:solidFill>
                            <a:schemeClr val="bg1"/>
                          </a:solidFill>
                          <a:effectLst/>
                        </a:rPr>
                        <a:t>متفوق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66900" y="310038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ar-SY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76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ar-SY" b="1" dirty="0" smtClean="0"/>
              <a:t>الاستبيان</a:t>
            </a:r>
            <a:endParaRPr lang="ar-SY" b="1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ar-SY" b="1" dirty="0" smtClean="0"/>
          </a:p>
          <a:p>
            <a:r>
              <a:rPr lang="ar-SY" b="1" dirty="0" smtClean="0"/>
              <a:t>مراحل </a:t>
            </a:r>
            <a:r>
              <a:rPr lang="ar-SY" b="1" dirty="0"/>
              <a:t>تصميم الاستبيان</a:t>
            </a:r>
            <a:endParaRPr lang="en-US" dirty="0"/>
          </a:p>
          <a:p>
            <a:pPr lvl="0"/>
            <a:r>
              <a:rPr lang="ar-SY" sz="2400" dirty="0"/>
              <a:t>تحديد الهدف من الاستبيان و القرارات المراد استنتاجها منه.</a:t>
            </a:r>
            <a:endParaRPr lang="en-US" sz="2400" dirty="0"/>
          </a:p>
          <a:p>
            <a:pPr lvl="0"/>
            <a:r>
              <a:rPr lang="ar-SY" sz="2400" dirty="0"/>
              <a:t>تحديد الأسئلة المطروحة.</a:t>
            </a:r>
            <a:endParaRPr lang="en-US" sz="2400" dirty="0"/>
          </a:p>
          <a:p>
            <a:pPr lvl="0"/>
            <a:r>
              <a:rPr lang="ar-SY" sz="2400" dirty="0"/>
              <a:t>تحديد العينة المستهدفة من الاستبيان.</a:t>
            </a:r>
            <a:endParaRPr lang="en-US" sz="2400" dirty="0"/>
          </a:p>
          <a:p>
            <a:pPr lvl="0"/>
            <a:r>
              <a:rPr lang="ar-SY" sz="2400" dirty="0"/>
              <a:t>تحديد طريقة الحصول على المعلومات من العينة المستهدفة.</a:t>
            </a:r>
            <a:endParaRPr lang="en-US" sz="2400" dirty="0"/>
          </a:p>
          <a:p>
            <a:pPr marL="0" indent="0">
              <a:buNone/>
            </a:pP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410222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ar-SY" dirty="0" smtClean="0"/>
              <a:t>الخاتمة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ar-SY" dirty="0" smtClean="0"/>
          </a:p>
          <a:p>
            <a:pPr marL="0" indent="0">
              <a:buNone/>
            </a:pPr>
            <a:endParaRPr lang="ar-SY" dirty="0"/>
          </a:p>
          <a:p>
            <a:pPr marL="0" indent="0">
              <a:buNone/>
            </a:pPr>
            <a:r>
              <a:rPr lang="ar-SY" dirty="0" smtClean="0"/>
              <a:t>هذا المشروع صمم لمعرفة الفروقات بين محركات البحث ولتقديم المعونة للمستخدمين الجدد كي يستطيعوا الوصول إلى ما يريدون باستخدام محرك البحث الأفضل والذي يناسب احتياجاتهم 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74356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ar-SY" dirty="0" smtClean="0"/>
              <a:t>تصميم الطلاب</a:t>
            </a:r>
            <a:endParaRPr lang="ar-SY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ar-SY" dirty="0" smtClean="0"/>
              <a:t>مهند دادو                                       نائل عقاد</a:t>
            </a:r>
          </a:p>
          <a:p>
            <a:pPr marL="0" indent="0">
              <a:buNone/>
            </a:pPr>
            <a:r>
              <a:rPr lang="ar-SY" dirty="0" smtClean="0"/>
              <a:t>محمد أمير دليواتي                            محمد أديب بيطار</a:t>
            </a:r>
          </a:p>
          <a:p>
            <a:endParaRPr lang="ar-SY" dirty="0"/>
          </a:p>
          <a:p>
            <a:pPr marL="0" indent="0">
              <a:buNone/>
            </a:pPr>
            <a:r>
              <a:rPr lang="ar-SY" dirty="0"/>
              <a:t> </a:t>
            </a:r>
            <a:r>
              <a:rPr lang="ar-SY" dirty="0" smtClean="0"/>
              <a:t>                بإشراف الدكتورة دالين البكور</a:t>
            </a:r>
            <a:endParaRPr lang="ar-SY" dirty="0"/>
          </a:p>
        </p:txBody>
      </p:sp>
    </p:spTree>
    <p:extLst>
      <p:ext uri="{BB962C8B-B14F-4D97-AF65-F5344CB8AC3E}">
        <p14:creationId xmlns:p14="http://schemas.microsoft.com/office/powerpoint/2010/main" val="199068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462</Words>
  <Application>Microsoft Office PowerPoint</Application>
  <PresentationFormat>عرض على الشاشة (3:4)‏</PresentationFormat>
  <Paragraphs>101</Paragraphs>
  <Slides>13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4" baseType="lpstr">
      <vt:lpstr>سمة Office</vt:lpstr>
      <vt:lpstr>مقارنة بين محركي البحث </vt:lpstr>
      <vt:lpstr>العناوين</vt:lpstr>
      <vt:lpstr>مقدمة عامة</vt:lpstr>
      <vt:lpstr>Google</vt:lpstr>
      <vt:lpstr>Google</vt:lpstr>
      <vt:lpstr>Google</vt:lpstr>
      <vt:lpstr>العناوين</vt:lpstr>
      <vt:lpstr>Bing</vt:lpstr>
      <vt:lpstr>Bing</vt:lpstr>
      <vt:lpstr>مقارنة بين محركي البحث Bing &amp; Google</vt:lpstr>
      <vt:lpstr>الاستبيان</vt:lpstr>
      <vt:lpstr>الخاتمة</vt:lpstr>
      <vt:lpstr>تصميم الطلاب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مقارنة بين محركي البحث </dc:title>
  <dc:creator>Eternal</dc:creator>
  <cp:lastModifiedBy>Alamal for pc</cp:lastModifiedBy>
  <cp:revision>8</cp:revision>
  <dcterms:created xsi:type="dcterms:W3CDTF">2011-03-25T19:30:24Z</dcterms:created>
  <dcterms:modified xsi:type="dcterms:W3CDTF">2011-03-25T20:47:44Z</dcterms:modified>
</cp:coreProperties>
</file>